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Extenda 60 Giga" charset="1" panose="020B0003020200000002"/>
      <p:regular r:id="rId15"/>
    </p:embeddedFont>
    <p:embeddedFont>
      <p:font typeface="Inter" charset="1" panose="020B0502030000000004"/>
      <p:regular r:id="rId16"/>
    </p:embeddedFont>
    <p:embeddedFont>
      <p:font typeface="Inter Bold" charset="1" panose="020B080203000000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6416" y="4400074"/>
            <a:ext cx="17095168" cy="227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171"/>
              </a:lnSpc>
            </a:pPr>
            <a:r>
              <a:rPr lang="en-US" sz="21368">
                <a:solidFill>
                  <a:srgbClr val="FFFFFF"/>
                </a:solidFill>
                <a:latin typeface="Extenda 60 Giga"/>
                <a:ea typeface="Extenda 60 Giga"/>
                <a:cs typeface="Extenda 60 Giga"/>
                <a:sym typeface="Extenda 60 Giga"/>
              </a:rPr>
              <a:t>CHILECOMBATREC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93551" y="9133356"/>
            <a:ext cx="6665749" cy="29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27"/>
              </a:lnSpc>
              <a:spcBef>
                <a:spcPct val="0"/>
              </a:spcBef>
            </a:pPr>
            <a:r>
              <a:rPr lang="en-US" sz="22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DOCENTE: FELIPE KRAUSS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9371" y="8727535"/>
            <a:ext cx="6665749" cy="83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7"/>
              </a:lnSpc>
            </a:pPr>
            <a:r>
              <a:rPr lang="en-US" sz="22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INTEGRANTES:</a:t>
            </a:r>
          </a:p>
          <a:p>
            <a:pPr algn="just">
              <a:lnSpc>
                <a:spcPts val="2127"/>
              </a:lnSpc>
            </a:pPr>
            <a:r>
              <a:rPr lang="en-US" sz="22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JAVIER GONZÁLEZ</a:t>
            </a:r>
          </a:p>
          <a:p>
            <a:pPr algn="just" marL="0" indent="0" lvl="0">
              <a:lnSpc>
                <a:spcPts val="2127"/>
              </a:lnSpc>
              <a:spcBef>
                <a:spcPct val="0"/>
              </a:spcBef>
            </a:pPr>
            <a:r>
              <a:rPr lang="en-US" sz="22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BENJAMÍN QUINTANILLA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121486"/>
            <a:ext cx="18288000" cy="29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7"/>
              </a:lnSpc>
              <a:spcBef>
                <a:spcPct val="0"/>
              </a:spcBef>
            </a:pPr>
            <a:r>
              <a:rPr lang="en-US" sz="22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PRESENTACIÓN DE PROYECTO ATP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37152" y="6628417"/>
            <a:ext cx="3613697" cy="2457314"/>
          </a:xfrm>
          <a:custGeom>
            <a:avLst/>
            <a:gdLst/>
            <a:ahLst/>
            <a:cxnLst/>
            <a:rect r="r" b="b" t="t" l="l"/>
            <a:pathLst>
              <a:path h="2457314" w="3613697">
                <a:moveTo>
                  <a:pt x="0" y="0"/>
                </a:moveTo>
                <a:lnTo>
                  <a:pt x="3613696" y="0"/>
                </a:lnTo>
                <a:lnTo>
                  <a:pt x="3613696" y="2457314"/>
                </a:lnTo>
                <a:lnTo>
                  <a:pt x="0" y="2457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5226" y="-895611"/>
            <a:ext cx="8219676" cy="12078222"/>
            <a:chOff x="0" y="0"/>
            <a:chExt cx="812800" cy="1194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194351"/>
            </a:xfrm>
            <a:custGeom>
              <a:avLst/>
              <a:gdLst/>
              <a:ahLst/>
              <a:cxnLst/>
              <a:rect r="r" b="b" t="t" l="l"/>
              <a:pathLst>
                <a:path h="11943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94351"/>
                  </a:lnTo>
                  <a:lnTo>
                    <a:pt x="0" y="1194351"/>
                  </a:lnTo>
                  <a:close/>
                </a:path>
              </a:pathLst>
            </a:custGeom>
            <a:blipFill>
              <a:blip r:embed="rId2"/>
              <a:stretch>
                <a:fillRect l="0" t="-1168" r="0" b="-116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332608" y="1439442"/>
            <a:ext cx="9631898" cy="163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81"/>
              </a:lnSpc>
              <a:spcBef>
                <a:spcPct val="0"/>
              </a:spcBef>
            </a:pPr>
            <a:r>
              <a:rPr lang="en-US" sz="14975">
                <a:solidFill>
                  <a:srgbClr val="1E1E1E"/>
                </a:solidFill>
                <a:latin typeface="Extenda 60 Giga"/>
                <a:ea typeface="Extenda 60 Giga"/>
                <a:cs typeface="Extenda 60 Giga"/>
                <a:sym typeface="Extenda 60 Giga"/>
              </a:rPr>
              <a:t>INTRODUCCIÓN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32608" y="3068799"/>
            <a:ext cx="9346747" cy="249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8"/>
              </a:lnSpc>
            </a:pPr>
            <a:r>
              <a:rPr lang="en-US" sz="2332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En los deportes de combate amateur en Chile, es común ver combates entre rivales con experiencias muy disparejas. Esto ocurre por problemas de comunicación entre escuelas o porque alguna omitió información sobre la trayectoria real de su alumno. A esto se suma la falta de un sistema estandarizado que permita a los clubes gestionar correctamente a su personal y estudiantes.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32608" y="6784383"/>
            <a:ext cx="9346747" cy="799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2"/>
              </a:lnSpc>
              <a:spcBef>
                <a:spcPct val="0"/>
              </a:spcBef>
            </a:pPr>
            <a:r>
              <a:rPr lang="en-US" sz="2287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Estas carencias representan una oportunidad clara para desarrollar ChileCombatRec.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2094" y="2150633"/>
            <a:ext cx="10100742" cy="153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16"/>
              </a:lnSpc>
              <a:spcBef>
                <a:spcPct val="0"/>
              </a:spcBef>
            </a:pPr>
            <a:r>
              <a:rPr lang="en-US" b="true" sz="14075">
                <a:solidFill>
                  <a:srgbClr val="1E1E1E"/>
                </a:solidFill>
                <a:latin typeface="Extenda 60 Giga"/>
                <a:ea typeface="Extenda 60 Giga"/>
                <a:cs typeface="Extenda 60 Giga"/>
                <a:sym typeface="Extenda 60 Giga"/>
              </a:rPr>
              <a:t>PROBLEMATICAS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479049" y="3802491"/>
            <a:ext cx="6137695" cy="765430"/>
            <a:chOff x="0" y="0"/>
            <a:chExt cx="3434382" cy="428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4382" cy="428301"/>
            </a:xfrm>
            <a:custGeom>
              <a:avLst/>
              <a:gdLst/>
              <a:ahLst/>
              <a:cxnLst/>
              <a:rect r="r" b="b" t="t" l="l"/>
              <a:pathLst>
                <a:path h="428301" w="3434382">
                  <a:moveTo>
                    <a:pt x="126137" y="0"/>
                  </a:moveTo>
                  <a:lnTo>
                    <a:pt x="3308245" y="0"/>
                  </a:lnTo>
                  <a:cubicBezTo>
                    <a:pt x="3377908" y="0"/>
                    <a:pt x="3434382" y="56474"/>
                    <a:pt x="3434382" y="126137"/>
                  </a:cubicBezTo>
                  <a:lnTo>
                    <a:pt x="3434382" y="302163"/>
                  </a:lnTo>
                  <a:cubicBezTo>
                    <a:pt x="3434382" y="371827"/>
                    <a:pt x="3377908" y="428301"/>
                    <a:pt x="3308245" y="428301"/>
                  </a:cubicBezTo>
                  <a:lnTo>
                    <a:pt x="126137" y="428301"/>
                  </a:lnTo>
                  <a:cubicBezTo>
                    <a:pt x="56474" y="428301"/>
                    <a:pt x="0" y="371827"/>
                    <a:pt x="0" y="302163"/>
                  </a:cubicBezTo>
                  <a:lnTo>
                    <a:pt x="0" y="126137"/>
                  </a:lnTo>
                  <a:cubicBezTo>
                    <a:pt x="0" y="56474"/>
                    <a:pt x="56474" y="0"/>
                    <a:pt x="1261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34382" cy="475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45288" y="4012489"/>
            <a:ext cx="3874354" cy="30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7"/>
              </a:lnSpc>
            </a:pPr>
            <a:r>
              <a:rPr lang="en-US" b="true" sz="1789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Combates disparejos y peligrosos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479049" y="4920346"/>
            <a:ext cx="6137695" cy="765430"/>
            <a:chOff x="0" y="0"/>
            <a:chExt cx="3434382" cy="4283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4382" cy="428301"/>
            </a:xfrm>
            <a:custGeom>
              <a:avLst/>
              <a:gdLst/>
              <a:ahLst/>
              <a:cxnLst/>
              <a:rect r="r" b="b" t="t" l="l"/>
              <a:pathLst>
                <a:path h="428301" w="3434382">
                  <a:moveTo>
                    <a:pt x="126137" y="0"/>
                  </a:moveTo>
                  <a:lnTo>
                    <a:pt x="3308245" y="0"/>
                  </a:lnTo>
                  <a:cubicBezTo>
                    <a:pt x="3377908" y="0"/>
                    <a:pt x="3434382" y="56474"/>
                    <a:pt x="3434382" y="126137"/>
                  </a:cubicBezTo>
                  <a:lnTo>
                    <a:pt x="3434382" y="302163"/>
                  </a:lnTo>
                  <a:cubicBezTo>
                    <a:pt x="3434382" y="371827"/>
                    <a:pt x="3377908" y="428301"/>
                    <a:pt x="3308245" y="428301"/>
                  </a:cubicBezTo>
                  <a:lnTo>
                    <a:pt x="126137" y="428301"/>
                  </a:lnTo>
                  <a:cubicBezTo>
                    <a:pt x="56474" y="428301"/>
                    <a:pt x="0" y="371827"/>
                    <a:pt x="0" y="302163"/>
                  </a:cubicBezTo>
                  <a:lnTo>
                    <a:pt x="0" y="126137"/>
                  </a:lnTo>
                  <a:cubicBezTo>
                    <a:pt x="0" y="56474"/>
                    <a:pt x="56474" y="0"/>
                    <a:pt x="1261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434382" cy="475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274563" y="5130344"/>
            <a:ext cx="2815805" cy="30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7"/>
              </a:lnSpc>
            </a:pPr>
            <a:r>
              <a:rPr lang="en-US" b="true" sz="1789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Información aislada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79049" y="6104875"/>
            <a:ext cx="6137695" cy="765430"/>
            <a:chOff x="0" y="0"/>
            <a:chExt cx="3434382" cy="4283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34382" cy="428301"/>
            </a:xfrm>
            <a:custGeom>
              <a:avLst/>
              <a:gdLst/>
              <a:ahLst/>
              <a:cxnLst/>
              <a:rect r="r" b="b" t="t" l="l"/>
              <a:pathLst>
                <a:path h="428301" w="3434382">
                  <a:moveTo>
                    <a:pt x="126137" y="0"/>
                  </a:moveTo>
                  <a:lnTo>
                    <a:pt x="3308245" y="0"/>
                  </a:lnTo>
                  <a:cubicBezTo>
                    <a:pt x="3377908" y="0"/>
                    <a:pt x="3434382" y="56474"/>
                    <a:pt x="3434382" y="126137"/>
                  </a:cubicBezTo>
                  <a:lnTo>
                    <a:pt x="3434382" y="302163"/>
                  </a:lnTo>
                  <a:cubicBezTo>
                    <a:pt x="3434382" y="371827"/>
                    <a:pt x="3377908" y="428301"/>
                    <a:pt x="3308245" y="428301"/>
                  </a:cubicBezTo>
                  <a:lnTo>
                    <a:pt x="126137" y="428301"/>
                  </a:lnTo>
                  <a:cubicBezTo>
                    <a:pt x="56474" y="428301"/>
                    <a:pt x="0" y="371827"/>
                    <a:pt x="0" y="302163"/>
                  </a:cubicBezTo>
                  <a:lnTo>
                    <a:pt x="0" y="126137"/>
                  </a:lnTo>
                  <a:cubicBezTo>
                    <a:pt x="0" y="56474"/>
                    <a:pt x="56474" y="0"/>
                    <a:pt x="1261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34382" cy="475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74528" y="6314874"/>
            <a:ext cx="4215874" cy="30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7"/>
              </a:lnSpc>
            </a:pPr>
            <a:r>
              <a:rPr lang="en-US" b="true" sz="1789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Procesos de gestión desactualizados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129442" y="-895611"/>
            <a:ext cx="8219676" cy="12078222"/>
            <a:chOff x="0" y="0"/>
            <a:chExt cx="812800" cy="11943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194351"/>
            </a:xfrm>
            <a:custGeom>
              <a:avLst/>
              <a:gdLst/>
              <a:ahLst/>
              <a:cxnLst/>
              <a:rect r="r" b="b" t="t" l="l"/>
              <a:pathLst>
                <a:path h="11943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94351"/>
                  </a:lnTo>
                  <a:lnTo>
                    <a:pt x="0" y="1194351"/>
                  </a:lnTo>
                  <a:close/>
                </a:path>
              </a:pathLst>
            </a:custGeom>
            <a:blipFill>
              <a:blip r:embed="rId2"/>
              <a:stretch>
                <a:fillRect l="-60276" t="0" r="-6027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479049" y="7289405"/>
            <a:ext cx="6137695" cy="765430"/>
            <a:chOff x="0" y="0"/>
            <a:chExt cx="3434382" cy="4283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34382" cy="428301"/>
            </a:xfrm>
            <a:custGeom>
              <a:avLst/>
              <a:gdLst/>
              <a:ahLst/>
              <a:cxnLst/>
              <a:rect r="r" b="b" t="t" l="l"/>
              <a:pathLst>
                <a:path h="428301" w="3434382">
                  <a:moveTo>
                    <a:pt x="126137" y="0"/>
                  </a:moveTo>
                  <a:lnTo>
                    <a:pt x="3308245" y="0"/>
                  </a:lnTo>
                  <a:cubicBezTo>
                    <a:pt x="3377908" y="0"/>
                    <a:pt x="3434382" y="56474"/>
                    <a:pt x="3434382" y="126137"/>
                  </a:cubicBezTo>
                  <a:lnTo>
                    <a:pt x="3434382" y="302163"/>
                  </a:lnTo>
                  <a:cubicBezTo>
                    <a:pt x="3434382" y="371827"/>
                    <a:pt x="3377908" y="428301"/>
                    <a:pt x="3308245" y="428301"/>
                  </a:cubicBezTo>
                  <a:lnTo>
                    <a:pt x="126137" y="428301"/>
                  </a:lnTo>
                  <a:cubicBezTo>
                    <a:pt x="56474" y="428301"/>
                    <a:pt x="0" y="371827"/>
                    <a:pt x="0" y="302163"/>
                  </a:cubicBezTo>
                  <a:lnTo>
                    <a:pt x="0" y="126137"/>
                  </a:lnTo>
                  <a:cubicBezTo>
                    <a:pt x="0" y="56474"/>
                    <a:pt x="56474" y="0"/>
                    <a:pt x="1261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434382" cy="475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801941" y="7499404"/>
            <a:ext cx="3761048" cy="30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7"/>
              </a:lnSpc>
            </a:pPr>
            <a:r>
              <a:rPr lang="en-US" b="true" sz="1789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Falta de conexión entre escuelas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3582" y="-1273077"/>
            <a:ext cx="8219676" cy="12078222"/>
            <a:chOff x="0" y="0"/>
            <a:chExt cx="812800" cy="1194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194351"/>
            </a:xfrm>
            <a:custGeom>
              <a:avLst/>
              <a:gdLst/>
              <a:ahLst/>
              <a:cxnLst/>
              <a:rect r="r" b="b" t="t" l="l"/>
              <a:pathLst>
                <a:path h="11943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94351"/>
                  </a:lnTo>
                  <a:lnTo>
                    <a:pt x="0" y="1194351"/>
                  </a:lnTo>
                  <a:close/>
                </a:path>
              </a:pathLst>
            </a:custGeom>
            <a:blipFill>
              <a:blip r:embed="rId2"/>
              <a:stretch>
                <a:fillRect l="-60483" t="0" r="-604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683131" y="1147761"/>
            <a:ext cx="8138284" cy="329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71"/>
              </a:lnSpc>
              <a:spcBef>
                <a:spcPct val="0"/>
              </a:spcBef>
            </a:pPr>
            <a:r>
              <a:rPr lang="en-US" b="true" sz="16312">
                <a:solidFill>
                  <a:srgbClr val="FFFFFF"/>
                </a:solidFill>
                <a:latin typeface="Extenda 60 Giga"/>
                <a:ea typeface="Extenda 60 Giga"/>
                <a:cs typeface="Extenda 60 Giga"/>
                <a:sym typeface="Extenda 60 Giga"/>
              </a:rPr>
              <a:t>NUESTRA PROPUESTA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83131" y="4386764"/>
            <a:ext cx="8138284" cy="522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 sistema web exclusivo para deportes de combate</a:t>
            </a:r>
          </a:p>
          <a:p>
            <a:pPr algn="just">
              <a:lnSpc>
                <a:spcPts val="3456"/>
              </a:lnSpc>
            </a:pPr>
          </a:p>
          <a:p>
            <a:pPr algn="just" marL="518160" indent="-259080" lvl="1">
              <a:lnSpc>
                <a:spcPts val="345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Cada escuela opera en su propio entorno privado.</a:t>
            </a:r>
          </a:p>
          <a:p>
            <a:pPr algn="just">
              <a:lnSpc>
                <a:spcPts val="3456"/>
              </a:lnSpc>
            </a:pPr>
          </a:p>
          <a:p>
            <a:pPr algn="just" marL="518160" indent="-259080" lvl="1">
              <a:lnSpc>
                <a:spcPts val="345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Administrador con control total de la cuenta.</a:t>
            </a:r>
          </a:p>
          <a:p>
            <a:pPr algn="just">
              <a:lnSpc>
                <a:spcPts val="3456"/>
              </a:lnSpc>
            </a:pPr>
          </a:p>
          <a:p>
            <a:pPr algn="just" marL="518160" indent="-259080" lvl="1">
              <a:lnSpc>
                <a:spcPts val="345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Entrenadores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con cuentas vinculadas y permisos claros.</a:t>
            </a:r>
          </a:p>
          <a:p>
            <a:pPr algn="just">
              <a:lnSpc>
                <a:spcPts val="3456"/>
              </a:lnSpc>
            </a:pPr>
          </a:p>
          <a:p>
            <a:pPr algn="just" marL="518160" indent="-259080" lvl="1">
              <a:lnSpc>
                <a:spcPts val="345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Conexión entre escuelas para buscar contricantes de experiencia similar a los estudiantes.</a:t>
            </a:r>
          </a:p>
          <a:p>
            <a:pPr algn="l" marL="0" indent="0" lvl="0">
              <a:lnSpc>
                <a:spcPts val="335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1032" y="4439504"/>
            <a:ext cx="3975266" cy="3954056"/>
            <a:chOff x="0" y="0"/>
            <a:chExt cx="895145" cy="8903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5145" cy="890369"/>
            </a:xfrm>
            <a:custGeom>
              <a:avLst/>
              <a:gdLst/>
              <a:ahLst/>
              <a:cxnLst/>
              <a:rect r="r" b="b" t="t" l="l"/>
              <a:pathLst>
                <a:path h="890369" w="895145">
                  <a:moveTo>
                    <a:pt x="38950" y="0"/>
                  </a:moveTo>
                  <a:lnTo>
                    <a:pt x="856195" y="0"/>
                  </a:lnTo>
                  <a:cubicBezTo>
                    <a:pt x="866525" y="0"/>
                    <a:pt x="876432" y="4104"/>
                    <a:pt x="883737" y="11408"/>
                  </a:cubicBezTo>
                  <a:cubicBezTo>
                    <a:pt x="891041" y="18713"/>
                    <a:pt x="895145" y="28620"/>
                    <a:pt x="895145" y="38950"/>
                  </a:cubicBezTo>
                  <a:lnTo>
                    <a:pt x="895145" y="851418"/>
                  </a:lnTo>
                  <a:cubicBezTo>
                    <a:pt x="895145" y="861749"/>
                    <a:pt x="891041" y="871656"/>
                    <a:pt x="883737" y="878960"/>
                  </a:cubicBezTo>
                  <a:cubicBezTo>
                    <a:pt x="876432" y="886265"/>
                    <a:pt x="866525" y="890369"/>
                    <a:pt x="856195" y="890369"/>
                  </a:cubicBezTo>
                  <a:lnTo>
                    <a:pt x="38950" y="890369"/>
                  </a:lnTo>
                  <a:cubicBezTo>
                    <a:pt x="17439" y="890369"/>
                    <a:pt x="0" y="872930"/>
                    <a:pt x="0" y="851418"/>
                  </a:cubicBezTo>
                  <a:lnTo>
                    <a:pt x="0" y="38950"/>
                  </a:lnTo>
                  <a:cubicBezTo>
                    <a:pt x="0" y="28620"/>
                    <a:pt x="4104" y="18713"/>
                    <a:pt x="11408" y="11408"/>
                  </a:cubicBezTo>
                  <a:cubicBezTo>
                    <a:pt x="18713" y="4104"/>
                    <a:pt x="28620" y="0"/>
                    <a:pt x="389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E1E1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95145" cy="937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1032" y="2091097"/>
            <a:ext cx="11018527" cy="223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48"/>
              </a:lnSpc>
              <a:spcBef>
                <a:spcPct val="0"/>
              </a:spcBef>
            </a:pPr>
            <a:r>
              <a:rPr lang="en-US" b="true" sz="20470">
                <a:solidFill>
                  <a:srgbClr val="1E1E1E"/>
                </a:solidFill>
                <a:latin typeface="Extenda 60 Giga"/>
                <a:ea typeface="Extenda 60 Giga"/>
                <a:cs typeface="Extenda 60 Giga"/>
                <a:sym typeface="Extenda 60 Giga"/>
              </a:rPr>
              <a:t>OBJETIVOS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41811" y="4439504"/>
            <a:ext cx="3975266" cy="3954056"/>
            <a:chOff x="0" y="0"/>
            <a:chExt cx="895145" cy="8903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5145" cy="890369"/>
            </a:xfrm>
            <a:custGeom>
              <a:avLst/>
              <a:gdLst/>
              <a:ahLst/>
              <a:cxnLst/>
              <a:rect r="r" b="b" t="t" l="l"/>
              <a:pathLst>
                <a:path h="890369" w="895145">
                  <a:moveTo>
                    <a:pt x="38950" y="0"/>
                  </a:moveTo>
                  <a:lnTo>
                    <a:pt x="856195" y="0"/>
                  </a:lnTo>
                  <a:cubicBezTo>
                    <a:pt x="866525" y="0"/>
                    <a:pt x="876432" y="4104"/>
                    <a:pt x="883737" y="11408"/>
                  </a:cubicBezTo>
                  <a:cubicBezTo>
                    <a:pt x="891041" y="18713"/>
                    <a:pt x="895145" y="28620"/>
                    <a:pt x="895145" y="38950"/>
                  </a:cubicBezTo>
                  <a:lnTo>
                    <a:pt x="895145" y="851418"/>
                  </a:lnTo>
                  <a:cubicBezTo>
                    <a:pt x="895145" y="861749"/>
                    <a:pt x="891041" y="871656"/>
                    <a:pt x="883737" y="878960"/>
                  </a:cubicBezTo>
                  <a:cubicBezTo>
                    <a:pt x="876432" y="886265"/>
                    <a:pt x="866525" y="890369"/>
                    <a:pt x="856195" y="890369"/>
                  </a:cubicBezTo>
                  <a:lnTo>
                    <a:pt x="38950" y="890369"/>
                  </a:lnTo>
                  <a:cubicBezTo>
                    <a:pt x="17439" y="890369"/>
                    <a:pt x="0" y="872930"/>
                    <a:pt x="0" y="851418"/>
                  </a:cubicBezTo>
                  <a:lnTo>
                    <a:pt x="0" y="38950"/>
                  </a:lnTo>
                  <a:cubicBezTo>
                    <a:pt x="0" y="28620"/>
                    <a:pt x="4104" y="18713"/>
                    <a:pt x="11408" y="11408"/>
                  </a:cubicBezTo>
                  <a:cubicBezTo>
                    <a:pt x="18713" y="4104"/>
                    <a:pt x="28620" y="0"/>
                    <a:pt x="389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E1E1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5145" cy="937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3491" y="4475175"/>
            <a:ext cx="3975266" cy="3954056"/>
            <a:chOff x="0" y="0"/>
            <a:chExt cx="895145" cy="8903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5145" cy="890369"/>
            </a:xfrm>
            <a:custGeom>
              <a:avLst/>
              <a:gdLst/>
              <a:ahLst/>
              <a:cxnLst/>
              <a:rect r="r" b="b" t="t" l="l"/>
              <a:pathLst>
                <a:path h="890369" w="895145">
                  <a:moveTo>
                    <a:pt x="38950" y="0"/>
                  </a:moveTo>
                  <a:lnTo>
                    <a:pt x="856195" y="0"/>
                  </a:lnTo>
                  <a:cubicBezTo>
                    <a:pt x="866525" y="0"/>
                    <a:pt x="876432" y="4104"/>
                    <a:pt x="883737" y="11408"/>
                  </a:cubicBezTo>
                  <a:cubicBezTo>
                    <a:pt x="891041" y="18713"/>
                    <a:pt x="895145" y="28620"/>
                    <a:pt x="895145" y="38950"/>
                  </a:cubicBezTo>
                  <a:lnTo>
                    <a:pt x="895145" y="851418"/>
                  </a:lnTo>
                  <a:cubicBezTo>
                    <a:pt x="895145" y="861749"/>
                    <a:pt x="891041" y="871656"/>
                    <a:pt x="883737" y="878960"/>
                  </a:cubicBezTo>
                  <a:cubicBezTo>
                    <a:pt x="876432" y="886265"/>
                    <a:pt x="866525" y="890369"/>
                    <a:pt x="856195" y="890369"/>
                  </a:cubicBezTo>
                  <a:lnTo>
                    <a:pt x="38950" y="890369"/>
                  </a:lnTo>
                  <a:cubicBezTo>
                    <a:pt x="17439" y="890369"/>
                    <a:pt x="0" y="872930"/>
                    <a:pt x="0" y="851418"/>
                  </a:cubicBezTo>
                  <a:lnTo>
                    <a:pt x="0" y="38950"/>
                  </a:lnTo>
                  <a:cubicBezTo>
                    <a:pt x="0" y="28620"/>
                    <a:pt x="4104" y="18713"/>
                    <a:pt x="11408" y="11408"/>
                  </a:cubicBezTo>
                  <a:cubicBezTo>
                    <a:pt x="18713" y="4104"/>
                    <a:pt x="28620" y="0"/>
                    <a:pt x="389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E1E1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5145" cy="937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37786" y="4951031"/>
            <a:ext cx="3061758" cy="79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6"/>
              </a:lnSpc>
            </a:pPr>
            <a:r>
              <a:rPr lang="en-US" b="true" sz="3138" spc="-94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DESARROLLAR UN SOFTWARE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7865" y="6259563"/>
            <a:ext cx="3541601" cy="154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6893" indent="-188447" lvl="1">
              <a:lnSpc>
                <a:spcPts val="2094"/>
              </a:lnSpc>
              <a:buFont typeface="Arial"/>
              <a:buChar char="•"/>
            </a:pPr>
            <a:r>
              <a:rPr lang="en-US" sz="1745" spc="-52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El Frontend debe ser intuitivo.</a:t>
            </a:r>
          </a:p>
          <a:p>
            <a:pPr algn="just">
              <a:lnSpc>
                <a:spcPts val="2094"/>
              </a:lnSpc>
            </a:pPr>
          </a:p>
          <a:p>
            <a:pPr algn="just" marL="376893" indent="-188447" lvl="1">
              <a:lnSpc>
                <a:spcPts val="2094"/>
              </a:lnSpc>
              <a:buFont typeface="Arial"/>
              <a:buChar char="•"/>
            </a:pPr>
            <a:r>
              <a:rPr lang="en-US" sz="1745" spc="-52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El Backend debe ser robusto y capaz de proteger la información</a:t>
            </a:r>
          </a:p>
          <a:p>
            <a:pPr algn="l">
              <a:lnSpc>
                <a:spcPts val="209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404820" y="4951031"/>
            <a:ext cx="3518512" cy="118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6"/>
              </a:lnSpc>
            </a:pPr>
            <a:r>
              <a:rPr lang="en-US" b="true" sz="3138" spc="-94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IMPLEMENTAR LA GESTIÓN DEL CLUB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45606" y="6250038"/>
            <a:ext cx="3291036" cy="166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6770" indent="-198385" lvl="1">
              <a:lnSpc>
                <a:spcPts val="2205"/>
              </a:lnSpc>
              <a:buFont typeface="Arial"/>
              <a:buChar char="•"/>
            </a:pPr>
            <a:r>
              <a:rPr lang="en-US" sz="1837" spc="-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Se diseñará un algoritmo para que los entrenadores puedan buscar rivales de experiencia similar a sus estudiantes.</a:t>
            </a:r>
          </a:p>
          <a:p>
            <a:pPr algn="l">
              <a:lnSpc>
                <a:spcPts val="220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831868" y="4951031"/>
            <a:ext cx="3518512" cy="118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6"/>
              </a:lnSpc>
            </a:pPr>
            <a:r>
              <a:rPr lang="en-US" b="true" sz="3138" spc="-94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ALGORITMO DE BUSQUEDA DE RIVALES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1032" y="802984"/>
            <a:ext cx="6665749" cy="29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27"/>
              </a:lnSpc>
              <a:spcBef>
                <a:spcPct val="0"/>
              </a:spcBef>
            </a:pPr>
            <a:r>
              <a:rPr lang="en-US" sz="2287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CHILECOMBATREC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58644" y="6259563"/>
            <a:ext cx="3541601" cy="184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894" indent="-188447" lvl="1">
              <a:lnSpc>
                <a:spcPts val="2094"/>
              </a:lnSpc>
              <a:buFont typeface="Arial"/>
              <a:buChar char="•"/>
            </a:pPr>
            <a:r>
              <a:rPr lang="en-US" sz="1745" spc="-52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Administrador podrá gestionar su personal interno (entrenador y estudiantes).</a:t>
            </a:r>
          </a:p>
          <a:p>
            <a:pPr algn="l">
              <a:lnSpc>
                <a:spcPts val="2094"/>
              </a:lnSpc>
            </a:pPr>
          </a:p>
          <a:p>
            <a:pPr algn="l" marL="376894" indent="-188447" lvl="1">
              <a:lnSpc>
                <a:spcPts val="2094"/>
              </a:lnSpc>
              <a:buFont typeface="Arial"/>
              <a:buChar char="•"/>
            </a:pPr>
            <a:r>
              <a:rPr lang="en-US" sz="1745" spc="-52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Entrenador podrá gestionar a sus estudiantes.</a:t>
            </a:r>
          </a:p>
          <a:p>
            <a:pPr algn="l">
              <a:lnSpc>
                <a:spcPts val="2094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4064532" y="4475175"/>
            <a:ext cx="3975266" cy="3954056"/>
            <a:chOff x="0" y="0"/>
            <a:chExt cx="895145" cy="8903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5145" cy="890369"/>
            </a:xfrm>
            <a:custGeom>
              <a:avLst/>
              <a:gdLst/>
              <a:ahLst/>
              <a:cxnLst/>
              <a:rect r="r" b="b" t="t" l="l"/>
              <a:pathLst>
                <a:path h="890369" w="895145">
                  <a:moveTo>
                    <a:pt x="38950" y="0"/>
                  </a:moveTo>
                  <a:lnTo>
                    <a:pt x="856195" y="0"/>
                  </a:lnTo>
                  <a:cubicBezTo>
                    <a:pt x="866525" y="0"/>
                    <a:pt x="876432" y="4104"/>
                    <a:pt x="883737" y="11408"/>
                  </a:cubicBezTo>
                  <a:cubicBezTo>
                    <a:pt x="891041" y="18713"/>
                    <a:pt x="895145" y="28620"/>
                    <a:pt x="895145" y="38950"/>
                  </a:cubicBezTo>
                  <a:lnTo>
                    <a:pt x="895145" y="851418"/>
                  </a:lnTo>
                  <a:cubicBezTo>
                    <a:pt x="895145" y="861749"/>
                    <a:pt x="891041" y="871656"/>
                    <a:pt x="883737" y="878960"/>
                  </a:cubicBezTo>
                  <a:cubicBezTo>
                    <a:pt x="876432" y="886265"/>
                    <a:pt x="866525" y="890369"/>
                    <a:pt x="856195" y="890369"/>
                  </a:cubicBezTo>
                  <a:lnTo>
                    <a:pt x="38950" y="890369"/>
                  </a:lnTo>
                  <a:cubicBezTo>
                    <a:pt x="17439" y="890369"/>
                    <a:pt x="0" y="872930"/>
                    <a:pt x="0" y="851418"/>
                  </a:cubicBezTo>
                  <a:lnTo>
                    <a:pt x="0" y="38950"/>
                  </a:lnTo>
                  <a:cubicBezTo>
                    <a:pt x="0" y="28620"/>
                    <a:pt x="4104" y="18713"/>
                    <a:pt x="11408" y="11408"/>
                  </a:cubicBezTo>
                  <a:cubicBezTo>
                    <a:pt x="18713" y="4104"/>
                    <a:pt x="28620" y="0"/>
                    <a:pt x="389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E1E1E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95145" cy="937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406647" y="5971029"/>
            <a:ext cx="3291036" cy="249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6770" indent="-198385" lvl="1">
              <a:lnSpc>
                <a:spcPts val="2205"/>
              </a:lnSpc>
              <a:buFont typeface="Arial"/>
              <a:buChar char="•"/>
            </a:pPr>
            <a:r>
              <a:rPr lang="en-US" sz="1837" spc="-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Privacidad y seguridad de los datos</a:t>
            </a:r>
          </a:p>
          <a:p>
            <a:pPr algn="just" marL="396770" indent="-198385" lvl="1">
              <a:lnSpc>
                <a:spcPts val="2205"/>
              </a:lnSpc>
              <a:buFont typeface="Arial"/>
              <a:buChar char="•"/>
            </a:pPr>
            <a:r>
              <a:rPr lang="en-US" sz="1837" spc="-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Las escuelas solo podrán acceder a sus propios datos y podrán elegir que estudiantes puede aparecer en el algoritmo de recomendados</a:t>
            </a:r>
          </a:p>
          <a:p>
            <a:pPr algn="l">
              <a:lnSpc>
                <a:spcPts val="2205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4293132" y="4792137"/>
            <a:ext cx="3518512" cy="118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6"/>
              </a:lnSpc>
            </a:pPr>
            <a:r>
              <a:rPr lang="en-US" b="true" sz="3138" spc="-94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GARANTIZAR PRIVACIDAD Y SEGURIDAD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99729" y="5424354"/>
            <a:ext cx="3888543" cy="3156188"/>
            <a:chOff x="0" y="0"/>
            <a:chExt cx="1140241" cy="925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0241" cy="925492"/>
            </a:xfrm>
            <a:custGeom>
              <a:avLst/>
              <a:gdLst/>
              <a:ahLst/>
              <a:cxnLst/>
              <a:rect r="r" b="b" t="t" l="l"/>
              <a:pathLst>
                <a:path h="925492" w="1140241">
                  <a:moveTo>
                    <a:pt x="39819" y="0"/>
                  </a:moveTo>
                  <a:lnTo>
                    <a:pt x="1100421" y="0"/>
                  </a:lnTo>
                  <a:cubicBezTo>
                    <a:pt x="1122413" y="0"/>
                    <a:pt x="1140241" y="17828"/>
                    <a:pt x="1140241" y="39819"/>
                  </a:cubicBezTo>
                  <a:lnTo>
                    <a:pt x="1140241" y="885672"/>
                  </a:lnTo>
                  <a:cubicBezTo>
                    <a:pt x="1140241" y="896233"/>
                    <a:pt x="1136045" y="906361"/>
                    <a:pt x="1128578" y="913829"/>
                  </a:cubicBezTo>
                  <a:cubicBezTo>
                    <a:pt x="1121110" y="921296"/>
                    <a:pt x="1110982" y="925492"/>
                    <a:pt x="1100421" y="925492"/>
                  </a:cubicBezTo>
                  <a:lnTo>
                    <a:pt x="39819" y="925492"/>
                  </a:lnTo>
                  <a:cubicBezTo>
                    <a:pt x="17828" y="925492"/>
                    <a:pt x="0" y="907664"/>
                    <a:pt x="0" y="885672"/>
                  </a:cubicBezTo>
                  <a:lnTo>
                    <a:pt x="0" y="39819"/>
                  </a:lnTo>
                  <a:cubicBezTo>
                    <a:pt x="0" y="17828"/>
                    <a:pt x="17828" y="0"/>
                    <a:pt x="398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E1E1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40241" cy="973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62179"/>
            <a:ext cx="16230600" cy="393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46"/>
              </a:lnSpc>
              <a:spcBef>
                <a:spcPct val="0"/>
              </a:spcBef>
            </a:pPr>
            <a:r>
              <a:rPr lang="en-US" b="true" sz="19387">
                <a:solidFill>
                  <a:srgbClr val="FFFFFF"/>
                </a:solidFill>
                <a:latin typeface="Extenda 60 Giga"/>
                <a:ea typeface="Extenda 60 Giga"/>
                <a:cs typeface="Extenda 60 Giga"/>
                <a:sym typeface="Extenda 60 Giga"/>
              </a:rPr>
              <a:t>METODOLOGÍA A USAR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2630" y="6651044"/>
            <a:ext cx="3362739" cy="92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8"/>
              </a:lnSpc>
            </a:pPr>
            <a:r>
              <a:rPr lang="en-US" b="true" sz="3600" spc="-107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METODOLOGÍA ÁGIL SCRUM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71909"/>
            <a:ext cx="11094448" cy="346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611"/>
              </a:lnSpc>
              <a:spcBef>
                <a:spcPct val="0"/>
              </a:spcBef>
            </a:pPr>
            <a:r>
              <a:rPr lang="en-US" b="true" sz="17042">
                <a:solidFill>
                  <a:srgbClr val="1E1E1E"/>
                </a:solidFill>
                <a:latin typeface="Extenda 60 Giga"/>
                <a:ea typeface="Extenda 60 Giga"/>
                <a:cs typeface="Extenda 60 Giga"/>
                <a:sym typeface="Extenda 60 Giga"/>
              </a:rPr>
              <a:t>HERRAMIENTAS TECNICAS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458283"/>
            <a:ext cx="8495683" cy="302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2"/>
              </a:lnSpc>
            </a:pPr>
            <a:r>
              <a:rPr lang="en-US" sz="2800" b="true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Desarrollo Frontend</a:t>
            </a:r>
          </a:p>
          <a:p>
            <a:pPr algn="just" marL="604521" indent="-302261" lvl="1">
              <a:lnSpc>
                <a:spcPts val="4032"/>
              </a:lnSpc>
              <a:buFont typeface="Arial"/>
              <a:buChar char="•"/>
            </a:pPr>
            <a:r>
              <a:rPr lang="en-US" sz="28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</a:p>
          <a:p>
            <a:pPr algn="just">
              <a:lnSpc>
                <a:spcPts val="4032"/>
              </a:lnSpc>
            </a:pPr>
            <a:r>
              <a:rPr lang="en-US" sz="2800" b="true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Desarrollo Backend</a:t>
            </a:r>
          </a:p>
          <a:p>
            <a:pPr algn="just" marL="604521" indent="-302261" lvl="1">
              <a:lnSpc>
                <a:spcPts val="4032"/>
              </a:lnSpc>
              <a:buFont typeface="Arial"/>
              <a:buChar char="•"/>
            </a:pPr>
            <a:r>
              <a:rPr lang="en-US" sz="28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Node.js</a:t>
            </a:r>
          </a:p>
          <a:p>
            <a:pPr algn="just">
              <a:lnSpc>
                <a:spcPts val="4032"/>
              </a:lnSpc>
            </a:pPr>
            <a:r>
              <a:rPr lang="en-US" sz="2800" b="true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Motor de base de datos</a:t>
            </a:r>
          </a:p>
          <a:p>
            <a:pPr algn="just" marL="604521" indent="-302261" lvl="1">
              <a:lnSpc>
                <a:spcPts val="4032"/>
              </a:lnSpc>
              <a:buFont typeface="Arial"/>
              <a:buChar char="•"/>
            </a:pPr>
            <a:r>
              <a:rPr lang="en-US" sz="28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MySQL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93551" y="848892"/>
            <a:ext cx="6665749" cy="29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27"/>
              </a:lnSpc>
              <a:spcBef>
                <a:spcPct val="0"/>
              </a:spcBef>
            </a:pPr>
            <a:r>
              <a:rPr lang="en-US" sz="2287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CHILECOMBATREC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51715" y="2000029"/>
            <a:ext cx="9732656" cy="192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66"/>
              </a:lnSpc>
              <a:spcBef>
                <a:spcPct val="0"/>
              </a:spcBef>
            </a:pPr>
            <a:r>
              <a:rPr lang="en-US" b="true" sz="17656">
                <a:solidFill>
                  <a:srgbClr val="FFFFFF"/>
                </a:solidFill>
                <a:latin typeface="Extenda 60 Giga"/>
                <a:ea typeface="Extenda 60 Giga"/>
                <a:cs typeface="Extenda 60 Giga"/>
                <a:sym typeface="Extenda 60 Giga"/>
              </a:rPr>
              <a:t>CONCLUSIÓN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51715" y="3850698"/>
            <a:ext cx="9572857" cy="359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ChileCombatRec es un proyecto completamente viable que representa aporte a la profesionalización de los deportes de combate en Chile el cual presenta en su desarrollo la ejecución de todas las competencias de nuestro perfil de egreso.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567167" y="-1322906"/>
            <a:ext cx="8219676" cy="12078222"/>
            <a:chOff x="0" y="0"/>
            <a:chExt cx="812800" cy="11943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194351"/>
            </a:xfrm>
            <a:custGeom>
              <a:avLst/>
              <a:gdLst/>
              <a:ahLst/>
              <a:cxnLst/>
              <a:rect r="r" b="b" t="t" l="l"/>
              <a:pathLst>
                <a:path h="11943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94351"/>
                  </a:lnTo>
                  <a:lnTo>
                    <a:pt x="0" y="1194351"/>
                  </a:lnTo>
                  <a:close/>
                </a:path>
              </a:pathLst>
            </a:custGeom>
            <a:blipFill>
              <a:blip r:embed="rId2"/>
              <a:stretch>
                <a:fillRect l="-60276" t="0" r="-60276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8925" y="3400806"/>
            <a:ext cx="14650150" cy="442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135"/>
              </a:lnSpc>
              <a:spcBef>
                <a:spcPct val="0"/>
              </a:spcBef>
            </a:pPr>
            <a:r>
              <a:rPr lang="en-US" b="true" sz="21805">
                <a:solidFill>
                  <a:srgbClr val="1E1E1E"/>
                </a:solidFill>
                <a:latin typeface="Extenda 60 Giga"/>
                <a:ea typeface="Extenda 60 Giga"/>
                <a:cs typeface="Extenda 60 Giga"/>
                <a:sym typeface="Extenda 60 Giga"/>
              </a:rPr>
              <a:t>GRACIAS POR ESCUCHAR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93551" y="903770"/>
            <a:ext cx="6665749" cy="29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27"/>
              </a:lnSpc>
              <a:spcBef>
                <a:spcPct val="0"/>
              </a:spcBef>
            </a:pPr>
            <a:r>
              <a:rPr lang="en-US" sz="2287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CHILECOMBATREC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48892"/>
            <a:ext cx="6665749" cy="29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27"/>
              </a:lnSpc>
              <a:spcBef>
                <a:spcPct val="0"/>
              </a:spcBef>
            </a:pPr>
            <a:r>
              <a:rPr lang="en-US" sz="2287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DAHTvA_5LWE</dc:identifier>
  <dcterms:modified xsi:type="dcterms:W3CDTF">2011-08-01T06:04:30Z</dcterms:modified>
  <cp:revision>1</cp:revision>
  <dc:title>chilecombatrec</dc:title>
</cp:coreProperties>
</file>